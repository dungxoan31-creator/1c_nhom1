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"/>
          </a:xfrm>
          <a:prstGeom prst="rect">
            <a:avLst/>
          </a:prstGeom>
          <a:solidFill>
            <a:srgbClr val="D71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37744"/>
            <a:ext cx="108813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D7193F"/>
                </a:solidFill>
                <a:latin typeface="Arial"/>
              </a:rPr>
              <a:t>02 / PROJECT OVERVIEW — ĐÃ ĐỐI CHIẾU 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02920"/>
            <a:ext cx="109728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0232A"/>
                </a:solidFill>
                <a:latin typeface="Arial"/>
              </a:rPr>
              <a:t>Cấu hình thật trong DT hiện tại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6B76"/>
                </a:solidFill>
                <a:latin typeface="Arial"/>
              </a:rPr>
              <a:t>Kiểm kê đối tượng 1C của VinSmart_Future_AdminFull_v5_SuaFont.dt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6510528"/>
            <a:ext cx="10954512" cy="0"/>
          </a:xfrm>
          <a:prstGeom prst="line">
            <a:avLst/>
          </a:prstGeom>
          <a:ln w="8890">
            <a:solidFill>
              <a:srgbClr val="E4E6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6574536"/>
            <a:ext cx="896112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26B76"/>
                </a:solidFill>
                <a:latin typeface="Arial"/>
              </a:rPr>
              <a:t>VINSMART FUTURE  •  AR/AP  |  DT: AdminFull v5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74536"/>
            <a:ext cx="91440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26B76"/>
                </a:solidFill>
                <a:latin typeface="Arial"/>
              </a:rPr>
              <a:t>07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" y="1627632"/>
            <a:ext cx="2578608" cy="1417320"/>
          </a:xfrm>
          <a:prstGeom prst="roundRect">
            <a:avLst/>
          </a:prstGeom>
          <a:solidFill>
            <a:srgbClr val="FAFAFB"/>
          </a:solidFill>
          <a:ln w="10160">
            <a:solidFill>
              <a:srgbClr val="E4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4944" y="1627632"/>
            <a:ext cx="59436" cy="1417320"/>
          </a:xfrm>
          <a:prstGeom prst="rect">
            <a:avLst/>
          </a:prstGeom>
          <a:solidFill>
            <a:srgbClr val="D71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783080"/>
            <a:ext cx="2176272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D7193F"/>
                </a:solidFill>
                <a:latin typeface="Arial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22576"/>
            <a:ext cx="21945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20232A"/>
                </a:solidFill>
                <a:latin typeface="Arial"/>
              </a:rPr>
              <a:t>Phân hệ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651760"/>
            <a:ext cx="219456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26B76"/>
                </a:solidFill>
                <a:latin typeface="Arial"/>
              </a:rPr>
              <a:t>Subsystems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47288" y="1627632"/>
            <a:ext cx="2578608" cy="1417320"/>
          </a:xfrm>
          <a:prstGeom prst="roundRect">
            <a:avLst/>
          </a:prstGeom>
          <a:solidFill>
            <a:srgbClr val="FAFAFB"/>
          </a:solidFill>
          <a:ln w="10160">
            <a:solidFill>
              <a:srgbClr val="E4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47288" y="1627632"/>
            <a:ext cx="59436" cy="1417320"/>
          </a:xfrm>
          <a:prstGeom prst="rect">
            <a:avLst/>
          </a:prstGeom>
          <a:solidFill>
            <a:srgbClr val="D71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48456" y="1783080"/>
            <a:ext cx="2176272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D7193F"/>
                </a:solidFill>
                <a:latin typeface="Arial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48456" y="2322576"/>
            <a:ext cx="21945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20232A"/>
                </a:solidFill>
                <a:latin typeface="Arial"/>
              </a:rPr>
              <a:t>Chứng từ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48456" y="2651760"/>
            <a:ext cx="219456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26B76"/>
                </a:solidFill>
                <a:latin typeface="Arial"/>
              </a:rPr>
              <a:t>Documents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2" y="1627632"/>
            <a:ext cx="2578608" cy="1417320"/>
          </a:xfrm>
          <a:prstGeom prst="roundRect">
            <a:avLst/>
          </a:prstGeom>
          <a:solidFill>
            <a:srgbClr val="FAFAFB"/>
          </a:solidFill>
          <a:ln w="10160">
            <a:solidFill>
              <a:srgbClr val="E4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9632" y="1627632"/>
            <a:ext cx="59436" cy="1417320"/>
          </a:xfrm>
          <a:prstGeom prst="rect">
            <a:avLst/>
          </a:prstGeom>
          <a:solidFill>
            <a:srgbClr val="D71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783080"/>
            <a:ext cx="2176272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D7193F"/>
                </a:solidFill>
                <a:latin typeface="Arial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322576"/>
            <a:ext cx="21945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20232A"/>
                </a:solidFill>
                <a:latin typeface="Arial"/>
              </a:rPr>
              <a:t>Danh mục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651760"/>
            <a:ext cx="219456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26B76"/>
                </a:solidFill>
                <a:latin typeface="Arial"/>
              </a:rPr>
              <a:t>Catalogs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51976" y="1627632"/>
            <a:ext cx="2578608" cy="1417320"/>
          </a:xfrm>
          <a:prstGeom prst="roundRect">
            <a:avLst/>
          </a:prstGeom>
          <a:solidFill>
            <a:srgbClr val="FAFAFB"/>
          </a:solidFill>
          <a:ln w="10160">
            <a:solidFill>
              <a:srgbClr val="E4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51976" y="1627632"/>
            <a:ext cx="59436" cy="1417320"/>
          </a:xfrm>
          <a:prstGeom prst="rect">
            <a:avLst/>
          </a:prstGeom>
          <a:solidFill>
            <a:srgbClr val="D71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53144" y="1783080"/>
            <a:ext cx="2176272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D7193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53144" y="2322576"/>
            <a:ext cx="21945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20232A"/>
                </a:solidFill>
                <a:latin typeface="Arial"/>
              </a:rPr>
              <a:t>Vai trò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2651760"/>
            <a:ext cx="219456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26B76"/>
                </a:solidFill>
                <a:latin typeface="Arial"/>
              </a:rPr>
              <a:t>Roles / RBAC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4944" y="3236976"/>
            <a:ext cx="2578608" cy="1417320"/>
          </a:xfrm>
          <a:prstGeom prst="roundRect">
            <a:avLst/>
          </a:prstGeom>
          <a:solidFill>
            <a:srgbClr val="FAFAFB"/>
          </a:solidFill>
          <a:ln w="10160">
            <a:solidFill>
              <a:srgbClr val="E4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4944" y="3236976"/>
            <a:ext cx="59436" cy="1417320"/>
          </a:xfrm>
          <a:prstGeom prst="rect">
            <a:avLst/>
          </a:prstGeom>
          <a:solidFill>
            <a:srgbClr val="D71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3392424"/>
            <a:ext cx="2176272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D7193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3931920"/>
            <a:ext cx="21945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20232A"/>
                </a:solidFill>
                <a:latin typeface="Arial"/>
              </a:rPr>
              <a:t>Sổ đăng ký tích lũy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4261104"/>
            <a:ext cx="219456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26B76"/>
                </a:solidFill>
                <a:latin typeface="Arial"/>
              </a:rPr>
              <a:t>AR • AP • Tiền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47288" y="3236976"/>
            <a:ext cx="2578608" cy="1417320"/>
          </a:xfrm>
          <a:prstGeom prst="roundRect">
            <a:avLst/>
          </a:prstGeom>
          <a:solidFill>
            <a:srgbClr val="FAFAFB"/>
          </a:solidFill>
          <a:ln w="10160">
            <a:solidFill>
              <a:srgbClr val="E4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447288" y="3236976"/>
            <a:ext cx="59436" cy="1417320"/>
          </a:xfrm>
          <a:prstGeom prst="rect">
            <a:avLst/>
          </a:prstGeom>
          <a:solidFill>
            <a:srgbClr val="D71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48456" y="3392424"/>
            <a:ext cx="2176272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D7193F"/>
                </a:solidFill>
                <a:latin typeface="Arial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48456" y="3931920"/>
            <a:ext cx="21945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20232A"/>
                </a:solidFill>
                <a:latin typeface="Arial"/>
              </a:rPr>
              <a:t>Sổ đăng ký kế toán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48456" y="4261104"/>
            <a:ext cx="219456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26B76"/>
                </a:solidFill>
                <a:latin typeface="Arial"/>
              </a:rPr>
              <a:t>Accounting register / GL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99632" y="3236976"/>
            <a:ext cx="2578608" cy="1417320"/>
          </a:xfrm>
          <a:prstGeom prst="roundRect">
            <a:avLst/>
          </a:prstGeom>
          <a:solidFill>
            <a:srgbClr val="FAFAFB"/>
          </a:solidFill>
          <a:ln w="10160">
            <a:solidFill>
              <a:srgbClr val="E4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99632" y="3236976"/>
            <a:ext cx="59436" cy="1417320"/>
          </a:xfrm>
          <a:prstGeom prst="rect">
            <a:avLst/>
          </a:prstGeom>
          <a:solidFill>
            <a:srgbClr val="D71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3392424"/>
            <a:ext cx="2176272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D7193F"/>
                </a:solidFill>
                <a:latin typeface="Arial"/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3931920"/>
            <a:ext cx="21945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20232A"/>
                </a:solidFill>
                <a:latin typeface="Arial"/>
              </a:rPr>
              <a:t>Report object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4261104"/>
            <a:ext cx="219456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26B76"/>
                </a:solidFill>
                <a:latin typeface="Arial"/>
              </a:rPr>
              <a:t>Không có metadata Report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51976" y="3236976"/>
            <a:ext cx="2578608" cy="1417320"/>
          </a:xfrm>
          <a:prstGeom prst="roundRect">
            <a:avLst/>
          </a:prstGeom>
          <a:solidFill>
            <a:srgbClr val="FAFAFB"/>
          </a:solidFill>
          <a:ln w="10160">
            <a:solidFill>
              <a:srgbClr val="E4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951976" y="3236976"/>
            <a:ext cx="59436" cy="1417320"/>
          </a:xfrm>
          <a:prstGeom prst="rect">
            <a:avLst/>
          </a:prstGeom>
          <a:solidFill>
            <a:srgbClr val="D71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53144" y="3392424"/>
            <a:ext cx="2176272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D7193F"/>
                </a:solidFill>
                <a:latin typeface="Arial"/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53144" y="3931920"/>
            <a:ext cx="21945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20232A"/>
                </a:solidFill>
                <a:latin typeface="Arial"/>
              </a:rPr>
              <a:t>DataProcessor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53144" y="4261104"/>
            <a:ext cx="219456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26B76"/>
                </a:solidFill>
                <a:latin typeface="Arial"/>
              </a:rPr>
              <a:t>BanLamViecWebERP / dashboard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94944" y="5047488"/>
            <a:ext cx="10835640" cy="841248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68680" y="5230368"/>
            <a:ext cx="749808" cy="256032"/>
          </a:xfrm>
          <a:prstGeom prst="roundRect">
            <a:avLst/>
          </a:prstGeom>
          <a:solidFill>
            <a:srgbClr val="D71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4400" y="5244083"/>
            <a:ext cx="658368" cy="23774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PHẠM VI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83080" y="5166360"/>
            <a:ext cx="9464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20232A"/>
                </a:solidFill>
                <a:latin typeface="Arial"/>
              </a:rPr>
              <a:t>Slides 2–6 mô tả bối cảnh doanh nghiệp theo tài liệu nhóm cung cấp; các thông tin này không được xác nhận từ DT.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783080" y="5477256"/>
            <a:ext cx="9418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26B76"/>
                </a:solidFill>
                <a:latin typeface="Arial"/>
              </a:rPr>
              <a:t>Dashboard là màn hình điều hành, không làm tăng số lượng Report object.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"/>
          </a:xfrm>
          <a:prstGeom prst="rect">
            <a:avLst/>
          </a:prstGeom>
          <a:solidFill>
            <a:srgbClr val="D71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37744"/>
            <a:ext cx="108813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D7193F"/>
                </a:solidFill>
                <a:latin typeface="Arial"/>
              </a:rPr>
              <a:t>04 / SYSTEM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02920"/>
            <a:ext cx="109728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0232A"/>
                </a:solidFill>
                <a:latin typeface="Arial"/>
              </a:rPr>
              <a:t>6 phân hệ theo phạm vi nghiệp vụ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6B76"/>
                </a:solidFill>
                <a:latin typeface="Arial"/>
              </a:rPr>
              <a:t>Tên nhóm chức năng được giữ theo deck; số lượng khớp 6 subsystem trong DT.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6510528"/>
            <a:ext cx="10954512" cy="0"/>
          </a:xfrm>
          <a:prstGeom prst="line">
            <a:avLst/>
          </a:prstGeom>
          <a:ln w="8890">
            <a:solidFill>
              <a:srgbClr val="E4E6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6574536"/>
            <a:ext cx="896112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26B76"/>
                </a:solidFill>
                <a:latin typeface="Arial"/>
              </a:rPr>
              <a:t>VINSMART FUTURE  •  AR/AP  |  DT: AdminFull v5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74536"/>
            <a:ext cx="91440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26B76"/>
                </a:solidFill>
                <a:latin typeface="Arial"/>
              </a:rPr>
              <a:t>10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3456432" cy="17739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4672" y="1737360"/>
            <a:ext cx="384048" cy="274320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" y="1741932"/>
            <a:ext cx="3657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D7193F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1719072"/>
            <a:ext cx="26517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0232A"/>
                </a:solidFill>
                <a:latin typeface="Arial"/>
              </a:rPr>
              <a:t>PHẢI THU  •  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176272"/>
            <a:ext cx="3054096" cy="10607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6B76"/>
                </a:solidFill>
                <a:latin typeface="Arial"/>
              </a:rPr>
              <a:t>Nghiệm thu • Hóa đơn GTGT • Phiếu thu khách hàng
Kết quả: sổ AR và bút toán GL.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5" y="1572768"/>
            <a:ext cx="3456432" cy="17739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80559" y="1737360"/>
            <a:ext cx="384048" cy="274320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9703" y="1741932"/>
            <a:ext cx="3657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D7193F"/>
                </a:solidFill>
                <a:latin typeface="Arial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74336" y="1719072"/>
            <a:ext cx="26517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0232A"/>
                </a:solidFill>
                <a:latin typeface="Arial"/>
              </a:rPr>
              <a:t>PHẢI TRẢ  •  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3" y="2176272"/>
            <a:ext cx="3054096" cy="10607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6B76"/>
                </a:solidFill>
                <a:latin typeface="Arial"/>
              </a:rPr>
              <a:t>Hóa đơn nhà cung cấp • Phê duyệt • Ủy nhiệm chi
“Đề nghị thanh toán” là bước nghiệp vụ, không phải chứng từ riêng trong DT.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1572768"/>
            <a:ext cx="3456432" cy="17739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56448" y="1737360"/>
            <a:ext cx="384048" cy="274320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65592" y="1741932"/>
            <a:ext cx="3657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D7193F"/>
                </a:solidFill>
                <a:latin typeface="Arial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0224" y="1719072"/>
            <a:ext cx="26517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0232A"/>
                </a:solidFill>
                <a:latin typeface="Arial"/>
              </a:rPr>
              <a:t>NGÂN HÀNG &amp; TIỀN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2176272"/>
            <a:ext cx="3054096" cy="10607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6B76"/>
                </a:solidFill>
                <a:latin typeface="Arial"/>
              </a:rPr>
              <a:t>Phiếu thu • Ủy nhiệm chi • Đối soát kênh thanh toán
Kết quả: sổ tiền và các dòng GL liên quan.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602736"/>
            <a:ext cx="3456432" cy="17739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4672" y="3767328"/>
            <a:ext cx="384048" cy="274320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" y="3771900"/>
            <a:ext cx="3657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D7193F"/>
                </a:solidFill>
                <a:latin typeface="Arial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8448" y="3749040"/>
            <a:ext cx="26517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0232A"/>
                </a:solidFill>
                <a:latin typeface="Arial"/>
              </a:rPr>
              <a:t>CẤN TRỪ NỘI BỘ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4206240"/>
            <a:ext cx="3054096" cy="10607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6B76"/>
                </a:solidFill>
                <a:latin typeface="Arial"/>
              </a:rPr>
              <a:t>Chứng từ cấn trừ AR/AP đang mở.
Chỉ demo khi dữ liệu thỏa điều kiện VND và đối tác/pháp nhân.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34255" y="3602736"/>
            <a:ext cx="3456432" cy="17739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480559" y="3767328"/>
            <a:ext cx="384048" cy="274320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9703" y="3771900"/>
            <a:ext cx="3657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D7193F"/>
                </a:solidFill>
                <a:latin typeface="Arial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74336" y="3749040"/>
            <a:ext cx="26517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0232A"/>
                </a:solidFill>
                <a:latin typeface="Arial"/>
              </a:rPr>
              <a:t>SỔ CÁI &amp; ĐIỀU HÀNH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5423" y="4206240"/>
            <a:ext cx="3054096" cy="10607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6B76"/>
                </a:solidFill>
                <a:latin typeface="Arial"/>
              </a:rPr>
              <a:t>Một sổ đăng ký kế toán (GL) và DataProcessor dashboard.
Không giới thiệu dashboard như Report object.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10144" y="3602736"/>
            <a:ext cx="3456432" cy="17739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156448" y="3767328"/>
            <a:ext cx="384048" cy="274320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65592" y="3771900"/>
            <a:ext cx="3657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D7193F"/>
                </a:solidFill>
                <a:latin typeface="Arial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50224" y="3749040"/>
            <a:ext cx="26517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0232A"/>
                </a:solidFill>
                <a:latin typeface="Arial"/>
              </a:rPr>
              <a:t>DANH MỤC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11312" y="4206240"/>
            <a:ext cx="3054096" cy="10607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6B76"/>
                </a:solidFill>
                <a:latin typeface="Arial"/>
              </a:rPr>
              <a:t>Đối tác • Hợp đồng • Tài khoản • Tỷ giá
9 catalog trong kiểm kê metadata hiện tại.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8" y="5806440"/>
            <a:ext cx="10789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6102D"/>
                </a:solidFill>
                <a:latin typeface="Arial"/>
              </a:rPr>
              <a:t>Mỗi nhóm chức năng cần được giới thiệu bằng đúng chứng từ và màn hình có trong bản DT đang trình diễn.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"/>
          </a:xfrm>
          <a:prstGeom prst="rect">
            <a:avLst/>
          </a:prstGeom>
          <a:solidFill>
            <a:srgbClr val="D71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37744"/>
            <a:ext cx="108813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D7193F"/>
                </a:solidFill>
                <a:latin typeface="Arial"/>
              </a:rPr>
              <a:t>05 / BUSINESS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02920"/>
            <a:ext cx="109728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0232A"/>
                </a:solidFill>
                <a:latin typeface="Arial"/>
              </a:rPr>
              <a:t>Hai luồng nghiệp vụ để demo từ đầu đến cuối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6B76"/>
                </a:solidFill>
                <a:latin typeface="Arial"/>
              </a:rPr>
              <a:t>Sau mỗi lần ghi sổ, mở sổ chi tiết theo đối tác và dòng GL của chứng từ.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6510528"/>
            <a:ext cx="10954512" cy="0"/>
          </a:xfrm>
          <a:prstGeom prst="line">
            <a:avLst/>
          </a:prstGeom>
          <a:ln w="8890">
            <a:solidFill>
              <a:srgbClr val="E4E6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6574536"/>
            <a:ext cx="896112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26B76"/>
                </a:solidFill>
                <a:latin typeface="Arial"/>
              </a:rPr>
              <a:t>VINSMART FUTURE  •  AR/AP  |  DT: AdminFull v5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74536"/>
            <a:ext cx="91440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26B76"/>
                </a:solidFill>
                <a:latin typeface="Arial"/>
              </a:rPr>
              <a:t>11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481328"/>
            <a:ext cx="10954512" cy="1627632"/>
          </a:xfrm>
          <a:prstGeom prst="roundRect">
            <a:avLst/>
          </a:prstGeom>
          <a:solidFill>
            <a:srgbClr val="F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4672" y="1709928"/>
            <a:ext cx="731520" cy="256032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723644"/>
            <a:ext cx="640080" cy="23774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D7193F"/>
                </a:solidFill>
                <a:latin typeface="Arial"/>
              </a:rPr>
              <a:t>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048256"/>
            <a:ext cx="1133856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20232A"/>
                </a:solidFill>
                <a:latin typeface="Arial"/>
              </a:rPr>
              <a:t>PHẢI THU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29968" y="1682496"/>
            <a:ext cx="2066543" cy="12252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139696" y="1792224"/>
            <a:ext cx="365760" cy="219456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85416" y="1805939"/>
            <a:ext cx="274320" cy="20116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7193F"/>
                </a:solidFill>
                <a:latin typeface="Arial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57984" y="2075688"/>
            <a:ext cx="1810511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20232A"/>
                </a:solidFill>
                <a:latin typeface="Arial"/>
              </a:rPr>
              <a:t>Nghiệm thu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57984" y="2414016"/>
            <a:ext cx="1810511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626B76"/>
                </a:solidFill>
                <a:latin typeface="Arial"/>
              </a:rPr>
              <a:t>Biên bản nghiệm thu giai đoạn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9372" y="2093976"/>
            <a:ext cx="28346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D7193F"/>
                </a:solidFill>
                <a:latin typeface="Arial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25696" y="1682496"/>
            <a:ext cx="2066543" cy="12252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35424" y="1792224"/>
            <a:ext cx="365760" cy="219456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81144" y="1805939"/>
            <a:ext cx="274320" cy="20116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7193F"/>
                </a:solidFill>
                <a:latin typeface="Arial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2075688"/>
            <a:ext cx="1810511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20232A"/>
                </a:solidFill>
                <a:latin typeface="Arial"/>
              </a:rPr>
              <a:t>Ghi sổ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2414016"/>
            <a:ext cx="1810511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626B76"/>
                </a:solidFill>
                <a:latin typeface="Arial"/>
              </a:rPr>
              <a:t>Mở sổ AR 131x và dòng GL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5100" y="2093976"/>
            <a:ext cx="28346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D7193F"/>
                </a:solidFill>
                <a:latin typeface="Arial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21423" y="1682496"/>
            <a:ext cx="2066543" cy="12252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31151" y="1792224"/>
            <a:ext cx="365760" cy="219456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76871" y="1805939"/>
            <a:ext cx="274320" cy="20116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7193F"/>
                </a:solidFill>
                <a:latin typeface="Arial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39" y="2075688"/>
            <a:ext cx="1810511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20232A"/>
                </a:solidFill>
                <a:latin typeface="Arial"/>
              </a:rPr>
              <a:t>Hóa đơn GTGT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39" y="2414016"/>
            <a:ext cx="1810511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626B76"/>
                </a:solidFill>
                <a:latin typeface="Arial"/>
              </a:rPr>
              <a:t>Đối chiếu AR / 33311, tránh ghi trùng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0828" y="2093976"/>
            <a:ext cx="28346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D7193F"/>
                </a:solidFill>
                <a:latin typeface="Arial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17152" y="1682496"/>
            <a:ext cx="2066543" cy="12252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326880" y="1792224"/>
            <a:ext cx="365760" cy="219456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72600" y="1805939"/>
            <a:ext cx="274320" cy="20116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7193F"/>
                </a:solidFill>
                <a:latin typeface="Arial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45168" y="2075688"/>
            <a:ext cx="1810511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20232A"/>
                </a:solidFill>
                <a:latin typeface="Arial"/>
              </a:rPr>
              <a:t>Thu tiền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45168" y="2414016"/>
            <a:ext cx="1810511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626B76"/>
                </a:solidFill>
                <a:latin typeface="Arial"/>
              </a:rPr>
              <a:t>Phiếu thu → AR giảm, tiền tăng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" y="3319272"/>
            <a:ext cx="10954512" cy="1627632"/>
          </a:xfrm>
          <a:prstGeom prst="roundRect">
            <a:avLst/>
          </a:prstGeom>
          <a:solidFill>
            <a:srgbClr val="F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04672" y="3547872"/>
            <a:ext cx="731520" cy="256032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" y="3561588"/>
            <a:ext cx="640080" cy="23774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D7193F"/>
                </a:solidFill>
                <a:latin typeface="Arial"/>
              </a:rPr>
              <a:t>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" y="3886200"/>
            <a:ext cx="1133856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20232A"/>
                </a:solidFill>
                <a:latin typeface="Arial"/>
              </a:rPr>
              <a:t>PHẢI TRẢ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029968" y="3520440"/>
            <a:ext cx="2066543" cy="12252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139696" y="3630168"/>
            <a:ext cx="365760" cy="219456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185416" y="3643884"/>
            <a:ext cx="274320" cy="20116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7193F"/>
                </a:solidFill>
                <a:latin typeface="Arial"/>
              </a:rP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57984" y="3913632"/>
            <a:ext cx="1810511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20232A"/>
                </a:solidFill>
                <a:latin typeface="Arial"/>
              </a:rPr>
              <a:t>Hóa đơn NCC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57984" y="4251960"/>
            <a:ext cx="1810511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626B76"/>
                </a:solidFill>
                <a:latin typeface="Arial"/>
              </a:rPr>
              <a:t>Ghi nhận nghĩa vụ với nhà cung cấp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9372" y="3931920"/>
            <a:ext cx="28346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D7193F"/>
                </a:solidFill>
                <a:latin typeface="Arial"/>
              </a:rP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25696" y="3520440"/>
            <a:ext cx="2066543" cy="12252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535424" y="3630168"/>
            <a:ext cx="365760" cy="219456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81144" y="3643884"/>
            <a:ext cx="274320" cy="20116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7193F"/>
                </a:solidFill>
                <a:latin typeface="Arial"/>
              </a:rPr>
              <a:t>02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53712" y="3913632"/>
            <a:ext cx="1810511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20232A"/>
                </a:solidFill>
                <a:latin typeface="Arial"/>
              </a:rPr>
              <a:t>Phê duyệt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53712" y="4251960"/>
            <a:ext cx="1810511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626B76"/>
                </a:solidFill>
                <a:latin typeface="Arial"/>
              </a:rPr>
              <a:t>KTT; trên 500 triệu thêm CFO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15100" y="3931920"/>
            <a:ext cx="28346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D7193F"/>
                </a:solidFill>
                <a:latin typeface="Arial"/>
              </a:rPr>
              <a:t>→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821423" y="3520440"/>
            <a:ext cx="2066543" cy="12252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931151" y="3630168"/>
            <a:ext cx="365760" cy="219456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76871" y="3643884"/>
            <a:ext cx="274320" cy="20116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7193F"/>
                </a:solidFill>
                <a:latin typeface="Arial"/>
              </a:rPr>
              <a:t>03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49439" y="3913632"/>
            <a:ext cx="1810511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20232A"/>
                </a:solidFill>
                <a:latin typeface="Arial"/>
              </a:rPr>
              <a:t>Ghi sổ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49439" y="4251960"/>
            <a:ext cx="1810511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626B76"/>
                </a:solidFill>
                <a:latin typeface="Arial"/>
              </a:rPr>
              <a:t>Sau duyệt: AP 331x và dòng GL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10828" y="3931920"/>
            <a:ext cx="28346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D7193F"/>
                </a:solidFill>
                <a:latin typeface="Arial"/>
              </a:rPr>
              <a:t>→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217152" y="3520440"/>
            <a:ext cx="2066543" cy="12252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9326880" y="3630168"/>
            <a:ext cx="365760" cy="219456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372600" y="3643884"/>
            <a:ext cx="274320" cy="20116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7193F"/>
                </a:solidFill>
                <a:latin typeface="Arial"/>
              </a:rPr>
              <a:t>04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45168" y="3913632"/>
            <a:ext cx="1810511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20232A"/>
                </a:solidFill>
                <a:latin typeface="Arial"/>
              </a:rPr>
              <a:t>Ủy nhiệm chi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45168" y="4251960"/>
            <a:ext cx="1810511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626B76"/>
                </a:solidFill>
                <a:latin typeface="Arial"/>
              </a:rPr>
              <a:t>Post → AP giảm, tiền giảm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58368" y="5184648"/>
            <a:ext cx="10881360" cy="685800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1248" y="5321808"/>
            <a:ext cx="141732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D7193F"/>
                </a:solidFill>
                <a:latin typeface="Arial"/>
              </a:rPr>
              <a:t>ĐIỂM ĐỐI CHIẾU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212848" y="5303520"/>
            <a:ext cx="905256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20232A"/>
                </a:solidFill>
                <a:latin typeface="Arial"/>
              </a:rPr>
              <a:t>Sau mỗi POST: sổ chi tiết AR/AP theo đối tác → dòng GL → sổ tiền nếu có thanh toán.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7240" y="6007608"/>
            <a:ext cx="10698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26B76"/>
                </a:solidFill>
                <a:latin typeface="Arial"/>
              </a:rPr>
              <a:t>Cấn trừ là điểm nhấn tùy chọn: chỉ dùng khoản VND còn mở và thỏa điều kiện của chứng từ hiện tại; không phải chuyển tiền.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"/>
          </a:xfrm>
          <a:prstGeom prst="rect">
            <a:avLst/>
          </a:prstGeom>
          <a:solidFill>
            <a:srgbClr val="D71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37744"/>
            <a:ext cx="108813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D7193F"/>
                </a:solidFill>
                <a:latin typeface="Arial"/>
              </a:rPr>
              <a:t>06 / INTERNAL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02920"/>
            <a:ext cx="109728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0232A"/>
                </a:solidFill>
                <a:latin typeface="Arial"/>
              </a:rPr>
              <a:t>Điều kiện trước khi ghi sổ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6B76"/>
                </a:solidFill>
                <a:latin typeface="Arial"/>
              </a:rPr>
              <a:t>Mô tả đúng những kiểm tra và cấp duyệt đang được thực thi trong mã nguồn.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6510528"/>
            <a:ext cx="10954512" cy="0"/>
          </a:xfrm>
          <a:prstGeom prst="line">
            <a:avLst/>
          </a:prstGeom>
          <a:ln w="8890">
            <a:solidFill>
              <a:srgbClr val="E4E6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6574536"/>
            <a:ext cx="896112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26B76"/>
                </a:solidFill>
                <a:latin typeface="Arial"/>
              </a:rPr>
              <a:t>VINSMART FUTURE  •  AR/AP  |  DT: AdminFull v5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74536"/>
            <a:ext cx="91440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26B76"/>
                </a:solidFill>
                <a:latin typeface="Arial"/>
              </a:rPr>
              <a:t>12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600200"/>
            <a:ext cx="5285232" cy="15179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9536" y="1764792"/>
            <a:ext cx="384048" cy="274320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69364"/>
            <a:ext cx="3657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D7193F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746504"/>
            <a:ext cx="44805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0232A"/>
                </a:solidFill>
                <a:latin typeface="Arial"/>
              </a:rPr>
              <a:t>MAKER–CHECKER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203704"/>
            <a:ext cx="4882896" cy="804671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6B76"/>
                </a:solidFill>
                <a:latin typeface="Arial"/>
              </a:rPr>
              <a:t>Tách người lập và người duyệt ở luồng được áp dụng.
Kiểm tra người dùng và trạng thái trước khi ghi sổ.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600200"/>
            <a:ext cx="5285232" cy="15179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64224" y="1764792"/>
            <a:ext cx="384048" cy="274320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769364"/>
            <a:ext cx="3657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D7193F"/>
                </a:solidFill>
                <a:latin typeface="Arial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746504"/>
            <a:ext cx="44805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0232A"/>
                </a:solidFill>
                <a:latin typeface="Arial"/>
              </a:rPr>
              <a:t>KIỂM TRA SỐ DƯ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203704"/>
            <a:ext cx="4882896" cy="804671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6B76"/>
                </a:solidFill>
                <a:latin typeface="Arial"/>
              </a:rPr>
              <a:t>Không ghi nhận khoản thu/chi vượt điều kiện công nợ và kiểm tra số tiền trước khi tạo phát sinh.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355848"/>
            <a:ext cx="5285232" cy="15179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9536" y="3520440"/>
            <a:ext cx="384048" cy="274320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525012"/>
            <a:ext cx="3657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D7193F"/>
                </a:solidFill>
                <a:latin typeface="Arial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3502152"/>
            <a:ext cx="44805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0232A"/>
                </a:solidFill>
                <a:latin typeface="Arial"/>
              </a:rPr>
              <a:t>PHÊ DUYỆT 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959352"/>
            <a:ext cx="4882896" cy="804671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6B76"/>
                </a:solidFill>
                <a:latin typeface="Arial"/>
              </a:rPr>
              <a:t>Đến 500 triệu: Kế toán trưởng.
Trên 500 triệu: Kế toán trưởng và CFO theo luồng hiện tại.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355848"/>
            <a:ext cx="5285232" cy="15179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64224" y="3520440"/>
            <a:ext cx="384048" cy="274320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3368" y="3525012"/>
            <a:ext cx="3657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D7193F"/>
                </a:solidFill>
                <a:latin typeface="Arial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502152"/>
            <a:ext cx="44805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0232A"/>
                </a:solidFill>
                <a:latin typeface="Arial"/>
              </a:rPr>
              <a:t>USD / FCT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3959352"/>
            <a:ext cx="4882896" cy="804671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6B76"/>
                </a:solidFill>
                <a:latin typeface="Arial"/>
              </a:rPr>
              <a:t>Có xử lý tỷ giá và thuế nhà thầu trong một số giao dịch.
Không đồng nghĩa đã có đánh giá lại ngoại tệ cuối kỳ.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5321808"/>
            <a:ext cx="10789920" cy="658368"/>
          </a:xfrm>
          <a:prstGeom prst="roundRect">
            <a:avLst/>
          </a:prstGeom>
          <a:solidFill>
            <a:srgbClr val="FFF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256" y="5486400"/>
            <a:ext cx="68580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9A6500"/>
                </a:solidFill>
                <a:latin typeface="Arial"/>
              </a:rPr>
              <a:t>LƯU 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5449824"/>
            <a:ext cx="9509760" cy="2834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0232A"/>
                </a:solidFill>
                <a:latin typeface="Arial"/>
              </a:rPr>
              <a:t>Trạng thái Tech Lead / PM / IT Director trong enum không chứng minh chuỗi duyệt đã được phân quyền và cưỡng chế đầy đủ.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"/>
          </a:xfrm>
          <a:prstGeom prst="rect">
            <a:avLst/>
          </a:prstGeom>
          <a:solidFill>
            <a:srgbClr val="D71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37744"/>
            <a:ext cx="108813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D7193F"/>
                </a:solidFill>
                <a:latin typeface="Arial"/>
              </a:rPr>
              <a:t>07 / ACCOUNTING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02920"/>
            <a:ext cx="109728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0232A"/>
                </a:solidFill>
                <a:latin typeface="Arial"/>
              </a:rPr>
              <a:t>Từ chứng từ đến sổ kế toán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6B76"/>
                </a:solidFill>
                <a:latin typeface="Arial"/>
              </a:rPr>
              <a:t>Procedure ghi sổ kiểm tra điều kiện, tạo phát sinh vào sổ tương ứng và cập nhật GL.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6510528"/>
            <a:ext cx="10954512" cy="0"/>
          </a:xfrm>
          <a:prstGeom prst="line">
            <a:avLst/>
          </a:prstGeom>
          <a:ln w="8890">
            <a:solidFill>
              <a:srgbClr val="E4E6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6574536"/>
            <a:ext cx="896112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26B76"/>
                </a:solidFill>
                <a:latin typeface="Arial"/>
              </a:rPr>
              <a:t>VINSMART FUTURE  •  AR/AP  |  DT: AdminFull v5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74536"/>
            <a:ext cx="91440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26B76"/>
                </a:solidFill>
                <a:latin typeface="Arial"/>
              </a:rPr>
              <a:t>13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26667" y="1435608"/>
            <a:ext cx="1508760" cy="566928"/>
          </a:xfrm>
          <a:prstGeom prst="roundRect">
            <a:avLst/>
          </a:prstGeom>
          <a:solidFill>
            <a:srgbClr val="F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72387" y="1517904"/>
            <a:ext cx="1417319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0232A"/>
                </a:solidFill>
                <a:latin typeface="Arial"/>
              </a:rPr>
              <a:t>CHỨNG TỪ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2387" y="1746504"/>
            <a:ext cx="1417319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26B76"/>
                </a:solidFill>
                <a:latin typeface="Arial"/>
              </a:rPr>
              <a:t>nguồn nghiệp vụ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9143" y="155448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D7193F"/>
                </a:solidFill>
                <a:latin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55467" y="1435608"/>
            <a:ext cx="1847088" cy="566928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1187" y="1517904"/>
            <a:ext cx="175564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7193F"/>
                </a:solidFill>
                <a:latin typeface="Arial"/>
              </a:rPr>
              <a:t>VALIDATE + 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1187" y="1746504"/>
            <a:ext cx="1755648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26B76"/>
                </a:solidFill>
                <a:latin typeface="Arial"/>
              </a:rPr>
              <a:t>kiểm tra &amp; ghi sổ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6271" y="155448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D7193F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22595" y="1435608"/>
            <a:ext cx="2057400" cy="566928"/>
          </a:xfrm>
          <a:prstGeom prst="roundRect">
            <a:avLst/>
          </a:prstGeom>
          <a:solidFill>
            <a:srgbClr val="F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68315" y="1517904"/>
            <a:ext cx="1965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0232A"/>
                </a:solidFill>
                <a:latin typeface="Arial"/>
              </a:rPr>
              <a:t>SỔ AR / AP / TIỀN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68315" y="1746504"/>
            <a:ext cx="196596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26B76"/>
                </a:solidFill>
                <a:latin typeface="Arial"/>
              </a:rPr>
              <a:t>phát sinh chi tiết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3711" y="155448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D7193F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00035" y="1435608"/>
            <a:ext cx="1325880" cy="566928"/>
          </a:xfrm>
          <a:prstGeom prst="roundRect">
            <a:avLst/>
          </a:prstGeom>
          <a:solidFill>
            <a:srgbClr val="F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45755" y="1517904"/>
            <a:ext cx="1234439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0232A"/>
                </a:solidFill>
                <a:latin typeface="Arial"/>
              </a:rPr>
              <a:t>GL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45755" y="1746504"/>
            <a:ext cx="1234439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26B76"/>
                </a:solidFill>
                <a:latin typeface="Arial"/>
              </a:rPr>
              <a:t>Nợ / Có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39631" y="155448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D7193F"/>
                </a:solidFill>
                <a:latin typeface="Arial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45955" y="1435608"/>
            <a:ext cx="1719072" cy="566928"/>
          </a:xfrm>
          <a:prstGeom prst="roundRect">
            <a:avLst/>
          </a:prstGeom>
          <a:solidFill>
            <a:srgbClr val="F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91675" y="1517904"/>
            <a:ext cx="1627631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0232A"/>
                </a:solidFill>
                <a:latin typeface="Arial"/>
              </a:rPr>
              <a:t>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1675" y="1746504"/>
            <a:ext cx="1627631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26B76"/>
                </a:solidFill>
                <a:latin typeface="Arial"/>
              </a:rPr>
              <a:t>DataProcessor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" y="2194560"/>
            <a:ext cx="10954512" cy="338328"/>
          </a:xfrm>
          <a:prstGeom prst="rect">
            <a:avLst/>
          </a:prstGeom>
          <a:solidFill>
            <a:srgbClr val="A61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2240280"/>
            <a:ext cx="192024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FFFFF"/>
                </a:solidFill>
                <a:latin typeface="Arial"/>
              </a:rPr>
              <a:t>NGHIỆP VỤ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61488" y="2240280"/>
            <a:ext cx="461772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FFFFF"/>
                </a:solidFill>
                <a:latin typeface="Arial"/>
              </a:rPr>
              <a:t>TÀI KHOẢN / HƯỚNG PHÁT SINH MINH HỌA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2240280"/>
            <a:ext cx="393192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FFFFF"/>
                </a:solidFill>
                <a:latin typeface="Arial"/>
              </a:rPr>
              <a:t>ĐIỂM CẦN ĐỐI CHIẾU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" y="2542032"/>
            <a:ext cx="10954512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2583179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20232A"/>
                </a:solidFill>
                <a:latin typeface="Arial"/>
              </a:rPr>
              <a:t>Nghiệm thu / doanh thu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61488" y="2583179"/>
            <a:ext cx="46177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0232A"/>
                </a:solidFill>
                <a:latin typeface="Arial"/>
              </a:rPr>
              <a:t>131x / 5113; 33311 nếu chứng từ thực tế ghi VAT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2583179"/>
            <a:ext cx="39319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26B76"/>
                </a:solidFill>
                <a:latin typeface="Arial"/>
              </a:rPr>
              <a:t>Xác định chứng từ nào ghi doanh thu, AR và thuế; tránh ghi trùng.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" y="2980944"/>
            <a:ext cx="10954512" cy="420624"/>
          </a:xfrm>
          <a:prstGeom prst="rect">
            <a:avLst/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3022091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20232A"/>
                </a:solidFill>
                <a:latin typeface="Arial"/>
              </a:rPr>
              <a:t>Khách hàng thanh toán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61488" y="3022091"/>
            <a:ext cx="46177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0232A"/>
                </a:solidFill>
                <a:latin typeface="Arial"/>
              </a:rPr>
              <a:t>1121 hoặc 1122 / 131x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3022091"/>
            <a:ext cx="39319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26B76"/>
                </a:solidFill>
                <a:latin typeface="Arial"/>
              </a:rPr>
              <a:t>AR giảm; tiền tăng theo phiếu thu.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" y="3419856"/>
            <a:ext cx="10954512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8" y="3461003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20232A"/>
                </a:solidFill>
                <a:latin typeface="Arial"/>
              </a:rPr>
              <a:t>Hóa đơn nhà cung cấp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61488" y="3461003"/>
            <a:ext cx="46177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0232A"/>
                </a:solidFill>
                <a:latin typeface="Arial"/>
              </a:rPr>
              <a:t>627, 1331 / 331x; FCT: 33318/3338 khi áp dụng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79" y="3461003"/>
            <a:ext cx="39319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26B76"/>
                </a:solidFill>
                <a:latin typeface="Arial"/>
              </a:rPr>
              <a:t>Tài khoản theo loại chi phí và tình huống thuế.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" y="3858768"/>
            <a:ext cx="10954512" cy="420624"/>
          </a:xfrm>
          <a:prstGeom prst="rect">
            <a:avLst/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9808" y="3899915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20232A"/>
                </a:solidFill>
                <a:latin typeface="Arial"/>
              </a:rPr>
              <a:t>Thanh toán nhà cung cấp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61488" y="3899915"/>
            <a:ext cx="46177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0232A"/>
                </a:solidFill>
                <a:latin typeface="Arial"/>
              </a:rPr>
              <a:t>331x / 1121 hoặc 1122; phí NH 6427 khi có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79" y="3899915"/>
            <a:ext cx="39319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26B76"/>
                </a:solidFill>
                <a:latin typeface="Arial"/>
              </a:rPr>
              <a:t>Đối chiếu AP, tiền và chênh lệch tỷ giá nếu phát sinh.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" y="4297679"/>
            <a:ext cx="10954512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9808" y="4338827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20232A"/>
                </a:solidFill>
                <a:latin typeface="Arial"/>
              </a:rPr>
              <a:t>Cấn trừ nội bộ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61488" y="4338827"/>
            <a:ext cx="46177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0232A"/>
                </a:solidFill>
                <a:latin typeface="Arial"/>
              </a:rPr>
              <a:t>331x / 131x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98079" y="4338827"/>
            <a:ext cx="39319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26B76"/>
                </a:solidFill>
                <a:latin typeface="Arial"/>
              </a:rPr>
              <a:t>Không có dòng tiền ngân hàng; mã hiện tại giới hạn VND.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1792" y="4736592"/>
            <a:ext cx="10954512" cy="420624"/>
          </a:xfrm>
          <a:prstGeom prst="rect">
            <a:avLst/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9808" y="4777740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20232A"/>
                </a:solidFill>
                <a:latin typeface="Arial"/>
              </a:rPr>
              <a:t>Đối soát kênh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61488" y="4777740"/>
            <a:ext cx="46177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0232A"/>
                </a:solidFill>
                <a:latin typeface="Arial"/>
              </a:rPr>
              <a:t>1121 + 6427 / 1388 theo luồng hiện tại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98079" y="4777740"/>
            <a:ext cx="39319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26B76"/>
                </a:solidFill>
                <a:latin typeface="Arial"/>
              </a:rPr>
              <a:t>Tiền gộp = tiền ròng + phí; không giảm AR trực tiếp.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1792" y="5266944"/>
            <a:ext cx="10954512" cy="758952"/>
          </a:xfrm>
          <a:prstGeom prst="roundRect">
            <a:avLst/>
          </a:prstGeom>
          <a:solidFill>
            <a:srgbClr val="FFF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13816" y="5404104"/>
            <a:ext cx="1056132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0232A"/>
                </a:solidFill>
                <a:latin typeface="Arial"/>
              </a:rPr>
              <a:t>Tài khoản chi tiết 1311/1312, 3311/3312/3313 phụ thuộc đối tác và cấu hình. Dùng bút toán thật từ chứng từ đang demo; xác nhận chính sách VAS/thuế với người phụ trách kế toán.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"/>
          </a:xfrm>
          <a:prstGeom prst="rect">
            <a:avLst/>
          </a:prstGeom>
          <a:solidFill>
            <a:srgbClr val="D71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37744"/>
            <a:ext cx="108813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D7193F"/>
                </a:solidFill>
                <a:latin typeface="Arial"/>
              </a:rPr>
              <a:t>08 /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02920"/>
            <a:ext cx="109728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0232A"/>
                </a:solidFill>
                <a:latin typeface="Arial"/>
              </a:rPr>
              <a:t>Dữ liệu tập kết ở đâu sau khi ghi sổ?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6B76"/>
                </a:solidFill>
                <a:latin typeface="Arial"/>
              </a:rPr>
              <a:t>Tách đối tượng nghiệp vụ, thủ tục ghi sổ, sổ đăng ký và màn hình điều hành.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6510528"/>
            <a:ext cx="10954512" cy="0"/>
          </a:xfrm>
          <a:prstGeom prst="line">
            <a:avLst/>
          </a:prstGeom>
          <a:ln w="8890">
            <a:solidFill>
              <a:srgbClr val="E4E6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6574536"/>
            <a:ext cx="896112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26B76"/>
                </a:solidFill>
                <a:latin typeface="Arial"/>
              </a:rPr>
              <a:t>VINSMART FUTURE  •  AR/AP  |  DT: AdminFull v5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74536"/>
            <a:ext cx="91440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26B76"/>
                </a:solidFill>
                <a:latin typeface="Arial"/>
              </a:rPr>
              <a:t>14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1673352"/>
            <a:ext cx="246888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2104" y="1828800"/>
            <a:ext cx="384048" cy="228600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842516"/>
            <a:ext cx="292607" cy="2103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7193F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85416"/>
            <a:ext cx="213969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20232A"/>
                </a:solidFill>
                <a:latin typeface="Arial"/>
              </a:rPr>
              <a:t>CHỨNG TỪ  • 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542032"/>
            <a:ext cx="2139696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626B76"/>
                </a:solidFill>
                <a:latin typeface="Arial"/>
              </a:rPr>
              <a:t>AR • AP • thu/chi
cấn trừ • đối soát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2112" y="222199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D7193F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93008" y="1673352"/>
            <a:ext cx="246888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48456" y="1828800"/>
            <a:ext cx="384048" cy="228600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94176" y="1842516"/>
            <a:ext cx="292607" cy="2103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7193F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185416"/>
            <a:ext cx="213969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20232A"/>
                </a:solidFill>
                <a:latin typeface="Arial"/>
              </a:rPr>
              <a:t>PROCEDURE POST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542032"/>
            <a:ext cx="2139696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626B76"/>
                </a:solidFill>
                <a:latin typeface="Arial"/>
              </a:rPr>
              <a:t>Kiểm tra dữ liệu
phê duyệt • tạo phát sinh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98464" y="222199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D7193F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1673352"/>
            <a:ext cx="246888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64808" y="1828800"/>
            <a:ext cx="384048" cy="228600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8" y="1842516"/>
            <a:ext cx="292607" cy="2103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7193F"/>
                </a:solidFill>
                <a:latin typeface="Arial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2185416"/>
            <a:ext cx="213969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20232A"/>
                </a:solidFill>
                <a:latin typeface="Arial"/>
              </a:rPr>
              <a:t>SỔ TÍCH LŨY  • 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2542032"/>
            <a:ext cx="2139696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626B76"/>
                </a:solidFill>
                <a:latin typeface="Arial"/>
              </a:rPr>
              <a:t>AR • AP • tiền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14816" y="222199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D7193F"/>
                </a:solidFill>
                <a:latin typeface="Arial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25712" y="1673352"/>
            <a:ext cx="246888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281160" y="1828800"/>
            <a:ext cx="384048" cy="228600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0" y="1842516"/>
            <a:ext cx="292607" cy="2103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7193F"/>
                </a:solidFill>
                <a:latin typeface="Arial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0304" y="2185416"/>
            <a:ext cx="213969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20232A"/>
                </a:solidFill>
                <a:latin typeface="Arial"/>
              </a:rPr>
              <a:t>SỔ KẾ TOÁN  • 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0304" y="2542032"/>
            <a:ext cx="2139696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626B76"/>
                </a:solidFill>
                <a:latin typeface="Arial"/>
              </a:rPr>
              <a:t>Dòng GL Nợ / Có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6656" y="3401568"/>
            <a:ext cx="5230368" cy="1124712"/>
          </a:xfrm>
          <a:prstGeom prst="roundRect">
            <a:avLst/>
          </a:prstGeom>
          <a:solidFill>
            <a:srgbClr val="F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3557016"/>
            <a:ext cx="21031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232A"/>
                </a:solidFill>
                <a:latin typeface="Arial"/>
              </a:rPr>
              <a:t>DANH MỤC &amp; QUYỀN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" y="3886200"/>
            <a:ext cx="47548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26B76"/>
                </a:solidFill>
                <a:latin typeface="Arial"/>
              </a:rPr>
              <a:t>9 Catalogs cung cấp đối tác/tài khoản/tỷ giá • 5 Roles kiểm soát quyền truy cập.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80" y="3401568"/>
            <a:ext cx="5230368" cy="1124712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27648" y="3557016"/>
            <a:ext cx="228600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6102D"/>
                </a:solidFill>
                <a:latin typeface="Arial"/>
              </a:rPr>
              <a:t>MÀN HÌNH ĐIỀU HÀNH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3886200"/>
            <a:ext cx="47548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0232A"/>
                </a:solidFill>
                <a:latin typeface="Arial"/>
              </a:rPr>
              <a:t>1 DataProcessor: BanLamViecWebERP (dashboard/biểu mẫu). DT không có Report object trong metadata.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6656" y="4846320"/>
            <a:ext cx="10680192" cy="896112"/>
          </a:xfrm>
          <a:prstGeom prst="roundRect">
            <a:avLst/>
          </a:prstGeom>
          <a:solidFill>
            <a:srgbClr val="FFF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6968" y="5056632"/>
            <a:ext cx="521207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9A6500"/>
                </a:solidFill>
                <a:latin typeface="Arial"/>
              </a:rPr>
              <a:t>E2E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36192" y="4992624"/>
            <a:ext cx="9464040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0232A"/>
                </a:solidFill>
                <a:latin typeface="Arial"/>
              </a:rPr>
              <a:t>Chỉ công bố số test khi có báo cáo chạy cùng commit/phiên bản DT. Source E2E hiện có module khác với module đóng trong DT; bỏ tuyên bố “51 tests” cho đến khi có bằng chứng cùng phiên bản.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"/>
          </a:xfrm>
          <a:prstGeom prst="rect">
            <a:avLst/>
          </a:prstGeom>
          <a:solidFill>
            <a:srgbClr val="D71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37744"/>
            <a:ext cx="108813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D7193F"/>
                </a:solidFill>
                <a:latin typeface="Arial"/>
              </a:rPr>
              <a:t>09 / PRODUCT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02920"/>
            <a:ext cx="109728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0232A"/>
                </a:solidFill>
                <a:latin typeface="Arial"/>
              </a:rPr>
              <a:t>Demo trực tiếp: hai quy trình, một cách đối chiếu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6B76"/>
                </a:solidFill>
                <a:latin typeface="Arial"/>
              </a:rPr>
              <a:t>Mỗi lần POST đều nối được chứng từ → sổ chi tiết tài khoản → GL.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6510528"/>
            <a:ext cx="10954512" cy="0"/>
          </a:xfrm>
          <a:prstGeom prst="line">
            <a:avLst/>
          </a:prstGeom>
          <a:ln w="8890">
            <a:solidFill>
              <a:srgbClr val="E4E6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6574536"/>
            <a:ext cx="896112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26B76"/>
                </a:solidFill>
                <a:latin typeface="Arial"/>
              </a:rPr>
              <a:t>VINSMART FUTURE  •  AR/AP  |  DT: AdminFull v5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74536"/>
            <a:ext cx="91440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26B76"/>
                </a:solidFill>
                <a:latin typeface="Arial"/>
              </a:rPr>
              <a:t>15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5340096" cy="3246120"/>
          </a:xfrm>
          <a:prstGeom prst="roundRect">
            <a:avLst/>
          </a:prstGeom>
          <a:solidFill>
            <a:srgbClr val="F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77824" y="1783080"/>
            <a:ext cx="1051560" cy="256032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1796795"/>
            <a:ext cx="960119" cy="23774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7193F"/>
                </a:solidFill>
                <a:latin typeface="Arial"/>
              </a:rPr>
              <a:t>KỊCH BẢN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148840"/>
            <a:ext cx="4754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0232A"/>
                </a:solidFill>
                <a:latin typeface="Arial"/>
              </a:rPr>
              <a:t>PHẢI THU  •  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697480"/>
            <a:ext cx="292608" cy="2377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11196"/>
            <a:ext cx="201168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7193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692908"/>
            <a:ext cx="416052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0232A"/>
                </a:solidFill>
                <a:latin typeface="Arial"/>
              </a:rPr>
              <a:t>Nghiệm thu dịch vụ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118104"/>
            <a:ext cx="292608" cy="2377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131820"/>
            <a:ext cx="201168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7193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113532"/>
            <a:ext cx="416052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20232A"/>
                </a:solidFill>
                <a:latin typeface="Arial"/>
              </a:rPr>
              <a:t>Ghi sổ • xem 131x + GL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538728"/>
            <a:ext cx="292608" cy="2377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552444"/>
            <a:ext cx="201168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7193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3534156"/>
            <a:ext cx="416052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0232A"/>
                </a:solidFill>
                <a:latin typeface="Arial"/>
              </a:rPr>
              <a:t>Hóa đơn • đối chiếu 33311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959352"/>
            <a:ext cx="292608" cy="2377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973068"/>
            <a:ext cx="201168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7193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3954780"/>
            <a:ext cx="416052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20232A"/>
                </a:solidFill>
                <a:latin typeface="Arial"/>
              </a:rPr>
              <a:t>Thu tiền • xem AR/tiền/GL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1572768"/>
            <a:ext cx="5340096" cy="3246120"/>
          </a:xfrm>
          <a:prstGeom prst="roundRect">
            <a:avLst/>
          </a:prstGeom>
          <a:solidFill>
            <a:srgbClr val="F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19088" y="1783080"/>
            <a:ext cx="1051560" cy="256032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64807" y="1796795"/>
            <a:ext cx="960119" cy="23774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7193F"/>
                </a:solidFill>
                <a:latin typeface="Arial"/>
              </a:rPr>
              <a:t>KỊCH BẢN 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2148840"/>
            <a:ext cx="4754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0232A"/>
                </a:solidFill>
                <a:latin typeface="Arial"/>
              </a:rPr>
              <a:t>PHẢI TRẢ  •  AP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55664" y="2697480"/>
            <a:ext cx="292608" cy="2377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01383" y="2711196"/>
            <a:ext cx="201168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7193F"/>
                </a:solidFill>
                <a:latin typeface="Arial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2692908"/>
            <a:ext cx="416052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0232A"/>
                </a:solidFill>
                <a:latin typeface="Arial"/>
              </a:rPr>
              <a:t>Hóa đơn nhà cung cấp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55664" y="3118104"/>
            <a:ext cx="292608" cy="2377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01383" y="3131820"/>
            <a:ext cx="201168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7193F"/>
                </a:solidFill>
                <a:latin typeface="Arial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94576" y="3113532"/>
            <a:ext cx="416052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20232A"/>
                </a:solidFill>
                <a:latin typeface="Arial"/>
              </a:rPr>
              <a:t>Duyệt theo hạn mức hiện tại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55664" y="3538728"/>
            <a:ext cx="292608" cy="2377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01383" y="3552444"/>
            <a:ext cx="201168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7193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94576" y="3534156"/>
            <a:ext cx="416052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20232A"/>
                </a:solidFill>
                <a:latin typeface="Arial"/>
              </a:rPr>
              <a:t>Ghi sổ • xem 331x + GL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55664" y="3959352"/>
            <a:ext cx="292608" cy="2377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01383" y="3973068"/>
            <a:ext cx="201168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7193F"/>
                </a:solidFill>
                <a:latin typeface="Arial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94576" y="3954780"/>
            <a:ext cx="416052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20232A"/>
                </a:solidFill>
                <a:latin typeface="Arial"/>
              </a:rPr>
              <a:t>Ủy nhiệm chi • xem AP/tiền/GL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5138928"/>
            <a:ext cx="10881360" cy="731520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" y="5340096"/>
            <a:ext cx="77724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D7193F"/>
                </a:solidFill>
                <a:latin typeface="Arial"/>
              </a:rPr>
              <a:t>KẾT QUẢ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55648" y="5303520"/>
            <a:ext cx="94183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20232A"/>
                </a:solidFill>
                <a:latin typeface="Arial"/>
              </a:rPr>
              <a:t>Số dư trước/sau, trạng thái chứng từ, tài khoản chi tiết và tổng Nợ = tổng Có đều lấy từ đúng dữ liệu đang mở.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"/>
          </a:xfrm>
          <a:prstGeom prst="rect">
            <a:avLst/>
          </a:prstGeom>
          <a:solidFill>
            <a:srgbClr val="D71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37744"/>
            <a:ext cx="108813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D7193F"/>
                </a:solidFill>
                <a:latin typeface="Arial"/>
              </a:rPr>
              <a:t>DEMO 01 / ACCOUNTS RECEIVABLE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02920"/>
            <a:ext cx="109728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0232A"/>
                </a:solidFill>
                <a:latin typeface="Arial"/>
              </a:rPr>
              <a:t>Phải thu khách hàng: từ nghiệm thu đến thu tiền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6B76"/>
                </a:solidFill>
                <a:latin typeface="Arial"/>
              </a:rPr>
              <a:t>Dùng khách hàng và số tiền đang có trong đúng bản DT; không nhập số minh họa chưa kiểm chứng.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6510528"/>
            <a:ext cx="10954512" cy="0"/>
          </a:xfrm>
          <a:prstGeom prst="line">
            <a:avLst/>
          </a:prstGeom>
          <a:ln w="8890">
            <a:solidFill>
              <a:srgbClr val="E4E6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6574536"/>
            <a:ext cx="896112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26B76"/>
                </a:solidFill>
                <a:latin typeface="Arial"/>
              </a:rPr>
              <a:t>VINSMART FUTURE  •  AR/AP  |  DT: AdminFull v5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74536"/>
            <a:ext cx="91440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26B76"/>
                </a:solidFill>
                <a:latin typeface="Arial"/>
              </a:rPr>
              <a:t>16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5303520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4672" y="1737360"/>
            <a:ext cx="384048" cy="274320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" y="1741932"/>
            <a:ext cx="3657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D7193F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1719072"/>
            <a:ext cx="4498848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0232A"/>
                </a:solidFill>
                <a:latin typeface="Arial"/>
              </a:rPr>
              <a:t>Chọn chứng từ nghiệm thu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176272"/>
            <a:ext cx="4901183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6B76"/>
                </a:solidFill>
                <a:latin typeface="Arial"/>
              </a:rPr>
              <a:t>Mở biên bản nghiệm thu giai đoạn có thật. Kiểm tra khách hàng, dòng dịch vụ, tiền tệ và thuế.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1572768"/>
            <a:ext cx="5303520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36792" y="1737360"/>
            <a:ext cx="384048" cy="274320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741932"/>
            <a:ext cx="3657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D7193F"/>
                </a:solidFill>
                <a:latin typeface="Arial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0568" y="1719072"/>
            <a:ext cx="4498848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0232A"/>
                </a:solidFill>
                <a:latin typeface="Arial"/>
              </a:rPr>
              <a:t>Ghi sổ và truy phát sinh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5" y="2176272"/>
            <a:ext cx="4901183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6B76"/>
                </a:solidFill>
                <a:latin typeface="Arial"/>
              </a:rPr>
              <a:t>Sau POST, mở sổ chi tiết AR theo khách hàng; mở dòng GL của chính chứng từ đó.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145536"/>
            <a:ext cx="5303520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4672" y="3310128"/>
            <a:ext cx="384048" cy="274320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" y="3314700"/>
            <a:ext cx="3657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D7193F"/>
                </a:solidFill>
                <a:latin typeface="Arial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3291840"/>
            <a:ext cx="4498848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0232A"/>
                </a:solidFill>
                <a:latin typeface="Arial"/>
              </a:rPr>
              <a:t>Đối chiếu hóa đơn đầu 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3749039"/>
            <a:ext cx="4901183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6B76"/>
                </a:solidFill>
                <a:latin typeface="Arial"/>
              </a:rPr>
              <a:t>Lập/mở hóa đơn theo luồng thật. Xác nhận chứng từ nào ghi doanh thu, AR và 33311; tránh ghi lặp.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0488" y="3145536"/>
            <a:ext cx="5303520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36792" y="3310128"/>
            <a:ext cx="384048" cy="274320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45936" y="3314700"/>
            <a:ext cx="3657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D7193F"/>
                </a:solidFill>
                <a:latin typeface="Arial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3291840"/>
            <a:ext cx="4498848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0232A"/>
                </a:solidFill>
                <a:latin typeface="Arial"/>
              </a:rPr>
              <a:t>Ghi nhận tiền thu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655" y="3749039"/>
            <a:ext cx="4901183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6B76"/>
                </a:solidFill>
                <a:latin typeface="Arial"/>
              </a:rPr>
              <a:t>Ghi phiếu thu. Mở lại AR (số dư giảm), sổ tiền và GL để đối chiếu khoản thu.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910328"/>
            <a:ext cx="6601968" cy="941832"/>
          </a:xfrm>
          <a:prstGeom prst="roundRect">
            <a:avLst/>
          </a:prstGeom>
          <a:solidFill>
            <a:srgbClr val="F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5047488"/>
            <a:ext cx="20574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D7193F"/>
                </a:solidFill>
                <a:latin typeface="Arial"/>
              </a:rPr>
              <a:t>MỞ SỔ SAU MỖI POST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" y="5358384"/>
            <a:ext cx="61264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0232A"/>
                </a:solidFill>
                <a:latin typeface="Arial"/>
              </a:rPr>
              <a:t>Đối tác → TK 131x → phát sinh Nợ/Có → số dư → chứng từ nguồn → dòng GL.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79792" y="4910328"/>
            <a:ext cx="4041648" cy="941832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0" y="5047488"/>
            <a:ext cx="10515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7193F"/>
                </a:solidFill>
                <a:latin typeface="Arial"/>
              </a:rPr>
              <a:t>LỜI DẪN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5330952"/>
            <a:ext cx="3611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20232A"/>
                </a:solidFill>
                <a:latin typeface="Arial"/>
              </a:rPr>
              <a:t>“Mỗi lần ghi sổ đều truy được từ chứng từ sang sổ AR và GL.”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"/>
          </a:xfrm>
          <a:prstGeom prst="rect">
            <a:avLst/>
          </a:prstGeom>
          <a:solidFill>
            <a:srgbClr val="D71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37744"/>
            <a:ext cx="108813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D7193F"/>
                </a:solidFill>
                <a:latin typeface="Arial"/>
              </a:rPr>
              <a:t>DEMO 02 / ACCOUNTS PAYABLE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02920"/>
            <a:ext cx="109728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0232A"/>
                </a:solidFill>
                <a:latin typeface="Arial"/>
              </a:rPr>
              <a:t>Phải trả nhà cung cấp: từ hóa đơn đến thanh toán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6B76"/>
                </a:solidFill>
                <a:latin typeface="Arial"/>
              </a:rPr>
              <a:t>Chuỗi phê duyệt hiển thị theo đúng quyền và hạn mức đang chạy trong bản demo.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6510528"/>
            <a:ext cx="10954512" cy="0"/>
          </a:xfrm>
          <a:prstGeom prst="line">
            <a:avLst/>
          </a:prstGeom>
          <a:ln w="8890">
            <a:solidFill>
              <a:srgbClr val="E4E6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6574536"/>
            <a:ext cx="896112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26B76"/>
                </a:solidFill>
                <a:latin typeface="Arial"/>
              </a:rPr>
              <a:t>VINSMART FUTURE  •  AR/AP  |  DT: AdminFull v5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74536"/>
            <a:ext cx="91440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26B76"/>
                </a:solidFill>
                <a:latin typeface="Arial"/>
              </a:rPr>
              <a:t>17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5303520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4672" y="1737360"/>
            <a:ext cx="384048" cy="274320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" y="1741932"/>
            <a:ext cx="3657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D7193F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1719072"/>
            <a:ext cx="4498848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0232A"/>
                </a:solidFill>
                <a:latin typeface="Arial"/>
              </a:rPr>
              <a:t>Chọn hóa đơn nhà cung cấp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176272"/>
            <a:ext cx="4901183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6B76"/>
                </a:solidFill>
                <a:latin typeface="Arial"/>
              </a:rPr>
              <a:t>Kiểm tra đối tác, dịch vụ/chi phí, thuế, tiền tệ và tổng tiền.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1572768"/>
            <a:ext cx="5303520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36792" y="1737360"/>
            <a:ext cx="384048" cy="274320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741932"/>
            <a:ext cx="3657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D7193F"/>
                </a:solidFill>
                <a:latin typeface="Arial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0568" y="1719072"/>
            <a:ext cx="4498848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0232A"/>
                </a:solidFill>
                <a:latin typeface="Arial"/>
              </a:rPr>
              <a:t>Trình duyệt theo hạn mức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5" y="2176272"/>
            <a:ext cx="4901183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6B76"/>
                </a:solidFill>
                <a:latin typeface="Arial"/>
              </a:rPr>
              <a:t>Đến 500 triệu: Kế toán trưởng. Trên 500 triệu: Kế toán trưởng và CFO theo luồng hiện tại.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145536"/>
            <a:ext cx="5303520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4672" y="3310128"/>
            <a:ext cx="384048" cy="274320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" y="3314700"/>
            <a:ext cx="3657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D7193F"/>
                </a:solidFill>
                <a:latin typeface="Arial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3291840"/>
            <a:ext cx="4498848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0232A"/>
                </a:solidFill>
                <a:latin typeface="Arial"/>
              </a:rPr>
              <a:t>Ghi sổ hóa đơn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3749039"/>
            <a:ext cx="4901183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6B76"/>
                </a:solidFill>
                <a:latin typeface="Arial"/>
              </a:rPr>
              <a:t>Sau duyệt, mở sổ AP theo nhà cung cấp; đối chiếu 331x, chi phí/thuế và dòng GL.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0488" y="3145536"/>
            <a:ext cx="5303520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36792" y="3310128"/>
            <a:ext cx="384048" cy="274320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45936" y="3314700"/>
            <a:ext cx="3657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D7193F"/>
                </a:solidFill>
                <a:latin typeface="Arial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3291840"/>
            <a:ext cx="4498848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0232A"/>
                </a:solidFill>
                <a:latin typeface="Arial"/>
              </a:rPr>
              <a:t>Ghi sổ ủy nhiệm chi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655" y="3749039"/>
            <a:ext cx="4901183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26B76"/>
                </a:solidFill>
                <a:latin typeface="Arial"/>
              </a:rPr>
              <a:t>Mở lại sổ AP (số dư giảm), sổ tiền và GL; kiểm tra phí/chênh lệch nếu phát sinh.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910328"/>
            <a:ext cx="6601968" cy="941832"/>
          </a:xfrm>
          <a:prstGeom prst="roundRect">
            <a:avLst/>
          </a:prstGeom>
          <a:solidFill>
            <a:srgbClr val="F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5047488"/>
            <a:ext cx="20574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D7193F"/>
                </a:solidFill>
                <a:latin typeface="Arial"/>
              </a:rPr>
              <a:t>MỞ SỔ SAU MỖI POST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" y="5358384"/>
            <a:ext cx="61264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0232A"/>
                </a:solidFill>
                <a:latin typeface="Arial"/>
              </a:rPr>
              <a:t>Nhà cung cấp → TK 331x → phát sinh Nợ/Có → số dư → chứng từ nguồn → dòng GL.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79792" y="4910328"/>
            <a:ext cx="4041648" cy="941832"/>
          </a:xfrm>
          <a:prstGeom prst="roundRect">
            <a:avLst/>
          </a:prstGeom>
          <a:solidFill>
            <a:srgbClr val="FC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0" y="5047488"/>
            <a:ext cx="10515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7193F"/>
                </a:solidFill>
                <a:latin typeface="Arial"/>
              </a:rPr>
              <a:t>LỜI DẪN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5330952"/>
            <a:ext cx="3611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20232A"/>
                </a:solidFill>
                <a:latin typeface="Arial"/>
              </a:rPr>
              <a:t>“Thanh toán làm giảm AP; sổ công nợ, tiền và GL cùng giải thích số dư.”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